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00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OPS DIAGNOSTIC · SAMPLE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502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v0.1 · For 프로보티브 채용팀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</a:t>
            </a:r>
            <a:endParaRPr lang="en-US" sz="5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0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운영 흐름 진단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정보만으로 작성한 가상 시나리오 기반 SOP·자동화 제안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10911535" cy="0"/>
          </a:xfrm>
          <a:prstGeom prst="line">
            <a:avLst/>
          </a:prstGeom>
          <a:noFill/>
          <a:ln w="6350">
            <a:solidFill>
              <a:srgbClr val="6A2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669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PREPARED BY</a:t>
            </a:r>
            <a:endParaRPr lang="en-US" sz="85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Sanghoon Yoon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 Growth Team / 영업 운영 매니저 지원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hoon7624g@gmail.com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62495" y="5669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 TYPE</a:t>
            </a:r>
            <a:endParaRPr lang="en-US" sz="850" dirty="0"/>
          </a:p>
          <a:p>
            <a:pPr algn="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 Diagnostic</a:t>
            </a:r>
            <a:endParaRPr lang="en-US" sz="8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pages · Hypothesis-driven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EXECUTIVE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 요약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공고에서 추론할 수 있는 신호만으로 영업 운영 흐름을 가설적으로 진단했습니다. 정량 영향은 명시적으로 비워두었습니다.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18608" cy="1623060"/>
          </a:xfrm>
          <a:prstGeom prst="rect">
            <a:avLst/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54864" cy="162306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0604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DIAGNOSIS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89864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1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누수 가설 3개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410712"/>
            <a:ext cx="4861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공고에서 추론한 견적 응답·파트너 납기·CRM 정합성 세 지점에서, 매출이 새는 흐름의 가설을 정리했습니다.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331720"/>
            <a:ext cx="5318608" cy="162306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2331720"/>
            <a:ext cx="54864" cy="162306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3048" y="260604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53048" y="289864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1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1편 — 견적 사이클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53048" y="3410712"/>
            <a:ext cx="4861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문의 접수에서 견적 확정·CRM 기입까지 한 사이클을, 단계별 트리거·담당·산출물·예외로 분해했습니다.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29100"/>
            <a:ext cx="5318608" cy="162306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229100"/>
            <a:ext cx="54864" cy="162306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0342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479602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1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Zapier 자동화 제안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" y="5308092"/>
            <a:ext cx="4861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실무 가능 도구는 Zapier입니다. 견적 요청에서 파트너 알림과 SLA 미응답 에스컬레이션까지의 흐름 1건을 제안했습니다.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3008" y="4229100"/>
            <a:ext cx="5318608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233008" y="4229100"/>
            <a:ext cx="54864" cy="16230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3048" y="450342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NOTICE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53048" y="479602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100" kern="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단계 분리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53048" y="5308092"/>
            <a:ext cx="4861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데이터 없이 작성한 가상 진단입니다. 실제 데이터 검증은 입사 후 30일 안의 별도 단계로 분리했습니다.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PREMISE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문서가 사용한 신호와 사용하지 않은 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데이터가 없는 상황에서도 진단의 정직함을 유지하기 위해, 입력 신호의 출처를 분리해 두었습니다.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72888" cy="324612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신호 — 공고에서 추론 가능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163824"/>
            <a:ext cx="118872" cy="1188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규모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23160" y="310896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15명 린한 조직, Sales Growth Team 3명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21024"/>
            <a:ext cx="118872" cy="1188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566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비중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423160" y="356616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운영 60% / 개선·자동화 20% / 이슈 대응 20%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78224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사이클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423160" y="402336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→ 주문 → 제작 → 납품 → 재주문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35424"/>
            <a:ext cx="118872" cy="1188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스택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2423160" y="448056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Notion, Google Workspace, Slack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92624"/>
            <a:ext cx="118872" cy="1188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환경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2423160" y="493776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대부분 전화·이메일·엑셀 운영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78728" y="2331720"/>
            <a:ext cx="527288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644488" y="26060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사용하지 않은 것 — 검증 없이는 가설</a:t>
            </a:r>
            <a:endParaRPr lang="en-US" sz="1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488" y="3163824"/>
            <a:ext cx="118872" cy="1188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27368" y="310896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매출·고객 수·주문 건수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6827368" y="336499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 수치를 만들지 않았습니다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488" y="3877056"/>
            <a:ext cx="118872" cy="1188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27368" y="3822192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추정 SLA·평균 리드타임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6827368" y="4078224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출처 없이 인용하지 않았습니다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4488" y="4590288"/>
            <a:ext cx="118872" cy="1188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27368" y="4535424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 손실액 추정</a:t>
            </a:r>
            <a:endParaRPr lang="en-US" sz="1050" dirty="0"/>
          </a:p>
        </p:txBody>
      </p:sp>
      <p:sp>
        <p:nvSpPr>
          <p:cNvPr id="33" name="Text 23"/>
          <p:cNvSpPr/>
          <p:nvPr/>
        </p:nvSpPr>
        <p:spPr>
          <a:xfrm>
            <a:off x="6827368" y="4791456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영향은 검증 단계로 이전했습니다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정량은 입사 후 실제 데이터 검증 단계로 이전했습니다 — 09 NEXT STEPS 슬라이드 참조.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38" name="Text 28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HYPOTHESES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가지 운영 누수 가설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공고가 직접 언급한 운영 책무에서, 매출이 새는 흐름이 발생할 수 있는 지점을 추출했습니다.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911535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73152" cy="100584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2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920240" y="2532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응답 시점·품질 분산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응답 SLA가 정의·측정되지 않으면, 응답 시간 분산이 커지고 빠른 견적이 가능한 경쟁사에 초기 이탈이 발생할 수 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774375" y="25603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500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74375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0911535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74720"/>
            <a:ext cx="73152" cy="100584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57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2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920240" y="3675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 납기 추적 사각지대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파트너의 자발적 진행 보고에 의존하면 지연 신호가 사후 인지로 밀리고, 납기 사고와 사후 수습 비용이 누적될 수 있습니다.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74375" y="37033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500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4375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11535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17720"/>
            <a:ext cx="73152" cy="100584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800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2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920240" y="4818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데이터 정합성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20240" y="5166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영업·CS·제조 입력이 분기되면 단일 진실 원천이 흔들리고, 재주문 트리거나 우선순위 자동화의 기준이 모호해집니다.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774375" y="48463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500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74375" y="4846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가설은 다음 슬라이드에서 1쪽씩 상세히 풀고, 정량 영향은 검증 단계에서 측정합니다.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LEAK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응답 흐름의 누수 가설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가설 01 의 상세 — 가설 근거, 추정 패턴, SOP 핵심을 차례로 정리했습니다.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54298" cy="3291840"/>
          </a:xfrm>
          <a:prstGeom prst="rect">
            <a:avLst/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가설 근거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공고에서 추출한 신호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"고객 문의가 들어오는 순간부터 흐름이 끊기지 않도록 관리합니다." 는 곧, 일부 문의에서 흐름이 끊길 가능성을 시사합니다.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8" y="2331720"/>
            <a:ext cx="3454298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8698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3018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추정 패턴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3018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흐름이 끊기는가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3018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응답 시점이 측정되지 않으면, 응답 시간 분산이 커집니다. 빠른 견적이 가능한 경쟁사가 있는 시장에서, 분산이 큰 응답은 초기 이탈로 직결됩니다. 측정 인프라가 없는 상태에서는 "빠르다·느리다"의 인식조차 어렵습니다.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7317" y="2331720"/>
            <a:ext cx="3454298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1637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SOP 핵심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71637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막을 수 있는가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1637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시점 자동 기록 — 견적 폼·메일·전화 진입을 단일 로그로 통합</a:t>
            </a:r>
            <a:endParaRPr lang="en-US" sz="11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임계값은 측정 후 결정 — 1주 데이터 분포 확인 후 SLA 설정</a:t>
            </a:r>
            <a:endParaRPr lang="en-US" sz="11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시 자동 알림 — 영업운영 + 팀 리드 동시 푸시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AF6FE"/>
          </a:solidFill>
          <a:ln w="12700">
            <a:solidFill>
              <a:srgbClr val="FAF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임계값을 먼저 정하지 않습니다. 측정 인프라 → 1주 데이터 → 임계값. 순서가 중요합니다.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LEAK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 납기 추적 사각지대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가설 02 의 상세 — 가설 근거, 추정 패턴, SOP 핵심을 차례로 정리했습니다.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54298" cy="3291840"/>
          </a:xfrm>
          <a:prstGeom prst="rect">
            <a:avLst/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가설 근거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공고에서 추출한 신호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"주문 진행 단계별 리스크 감지 및 조기 대응" 이 핵심 책무인 만큼, 파트너 진행 신호를 사후가 아닌 사전에 잡는 인프라가 필요합니다.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8" y="2331720"/>
            <a:ext cx="3454298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8698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3018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추정 패턴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3018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흐름이 끊기는가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3018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파트너의 자발적 진행 보고에 의존하면, 지연 신호는 항상 사후로 밀립니다. 응답률(파트너의 회신 빈도) ≠ 실제 진행률(현장의 실제 일정). 응답률이 높아도 납기 사고는 발생할 수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7317" y="2331720"/>
            <a:ext cx="3454298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1637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SOP 핵심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71637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막을 수 있는가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1637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 기반 체크포인트 정의 — 파트너 회신이 아닌 객관 신호 기준</a:t>
            </a:r>
            <a:endParaRPr lang="en-US" sz="11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 미수신 시 자동 푸시 — Zapier + Slack / 알림 템플릿</a:t>
            </a:r>
            <a:endParaRPr lang="en-US" sz="11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미응답 시 영업팀·팀 리드 에스컬레이션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AF6FE"/>
          </a:solidFill>
          <a:ln w="12700">
            <a:solidFill>
              <a:srgbClr val="FAF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파트너의 회신 ≠ 실제 진행. 응답률보다 객관적 일정 신호를 우선 추적합니다.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LEAK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데이터 정합성 누수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가설 03 의 상세 — 가설 근거, 추정 패턴, SOP 핵심을 차례로 정리했습니다.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54298" cy="3291840"/>
          </a:xfrm>
          <a:prstGeom prst="rect">
            <a:avLst/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가설 근거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공고에서 추출한 신호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"고객·주문 데이터 관리 및 정합성 유지" 가 명시적 책무라는 것은, 현재 정합성 이슈가 운영의 병목이 될 수 있다는 신호로 읽힙니다.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8" y="2331720"/>
            <a:ext cx="3454298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8698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3018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추정 패턴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3018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흐름이 끊기는가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3018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영업·CS·제조 입력이 분기되면 단일 진실 원천이 흔들립니다. 같은 주문에 대해 도구마다 다른 상태가 기록되면, 재주문 트리거나 우선순위 자동화의 기준이 모호해지고, 회수 가능 매출이 누락됩니다.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7317" y="2331720"/>
            <a:ext cx="3454298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2331720"/>
            <a:ext cx="3454298" cy="54864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1637" y="26060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SOP 핵심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71637" y="28986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막을 수 있는가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1637" y="3337560"/>
            <a:ext cx="29056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책임 분기 명시 — 어느 필드는 누가 책임지는지 1열 정의</a:t>
            </a:r>
            <a:endParaRPr lang="en-US" sz="11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정합성 체크 — 자동화된 diff 리포트, 영업운영이 주관</a:t>
            </a:r>
            <a:endParaRPr lang="en-US" sz="11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재주문 트리거 룰 — 납품 완료 후 N일 자동 follow-up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AF6FE"/>
          </a:solidFill>
          <a:ln w="12700">
            <a:solidFill>
              <a:srgbClr val="FAF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정합성은 "룰"이 아니라 "책임자"의 문제입니다. 도구 전에 owner 부터 정합니다.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SOP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SOP 1편 — 견적 요청에서 고객 확정까지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사이클을 단계·트리거·담당·산출물·SLA·예외 분기로 분해했습니다. SLA 임계값은 측정 후 결정합니다.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1280160"/>
                <a:gridCol w="1828800"/>
                <a:gridCol w="146304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500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500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500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500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SLA 임계값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500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분기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500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접수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견적 폼 제출 / 메일 / 전화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접수 레코드 (CRM)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전화·메일 — 동일 폼으로 수동 동기화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분류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접수 후 즉시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표준·비표준 라벨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비표준 — 영업팀 라우팅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파트너 요청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 라벨 = 비표준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파트너 견적 요청서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복수 파트너 라우팅 — 우선순위 룰 적용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견적 수령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파트너 회신 / 미회신 24h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원가·일정 데이터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미회신 — 자동 리마인드 + 에스컬레이션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검토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견적 수령 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영업운영·영업팀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마진·납기 검토 노트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마진 미달 — 영업팀 협의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발송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통과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견적서 (PDF)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수정 요청 — 4번 분기로 회귀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 고객 확정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회신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확정 주문 레코드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후 결정 *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미회신 N일 — 팔로업 시퀀스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500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 CRM 기입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확정 직후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영업운영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정합성 체크리스트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 처리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F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필드 누락 — 자동 알림 후 보완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SLA 임계값은 입사 후 1주 측정 → 데이터 분포 확인 후 결정합니다. 임계값을 먼저 정하지 않습니다.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AUTOMATION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제안 1건 — Zapier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요청에서 파트너 알림과 SLA 미응답 에스컬레이션까지, 사람의 개입 없이 흐르는 구간을 분리했습니다.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4332" y="2743200"/>
            <a:ext cx="187452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332" y="2743200"/>
            <a:ext cx="1874520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492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TRIGGER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1492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견적 요청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1492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Forms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Notion DB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35428" y="3383280"/>
            <a:ext cx="219456" cy="0"/>
          </a:xfrm>
          <a:prstGeom prst="line">
            <a:avLst/>
          </a:prstGeom>
          <a:noFill/>
          <a:ln w="15875">
            <a:solidFill>
              <a:srgbClr val="45008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1460" y="2743200"/>
            <a:ext cx="187452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1460" y="2743200"/>
            <a:ext cx="1874520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862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28620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자동 기입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28620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 DB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(또는 HubSpot)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02556" y="3383280"/>
            <a:ext cx="219456" cy="0"/>
          </a:xfrm>
          <a:prstGeom prst="line">
            <a:avLst/>
          </a:prstGeom>
          <a:noFill/>
          <a:ln w="15875">
            <a:solidFill>
              <a:srgbClr val="45008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58588" y="2743200"/>
            <a:ext cx="187452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8588" y="2743200"/>
            <a:ext cx="1874520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5748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95748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 알림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95748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 DM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알림 템플릿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69684" y="3383280"/>
            <a:ext cx="219456" cy="0"/>
          </a:xfrm>
          <a:prstGeom prst="line">
            <a:avLst/>
          </a:prstGeom>
          <a:noFill/>
          <a:ln w="15875">
            <a:solidFill>
              <a:srgbClr val="45008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25716" y="2743200"/>
            <a:ext cx="187452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5716" y="2743200"/>
            <a:ext cx="1874520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2876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62876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24h 대기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62876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Zapier Delay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36812" y="3383280"/>
            <a:ext cx="219456" cy="0"/>
          </a:xfrm>
          <a:prstGeom prst="line">
            <a:avLst/>
          </a:prstGeom>
          <a:noFill/>
          <a:ln w="15875">
            <a:solidFill>
              <a:srgbClr val="45008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492844" y="2743200"/>
            <a:ext cx="1874520" cy="1280160"/>
          </a:xfrm>
          <a:prstGeom prst="rect">
            <a:avLst/>
          </a:prstGeom>
          <a:solidFill>
            <a:srgbClr val="F5EFFB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2844" y="2743200"/>
            <a:ext cx="1874520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30004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CONDITION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30004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미응답 시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리드 에스컬레이션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30004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 채널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#sales-ops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4332" y="23317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Zapier — 5-step automation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5074920"/>
            <a:ext cx="10911535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074920"/>
            <a:ext cx="54864" cy="1188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솔직 명시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5321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Zapier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실무에서 영상 앱·숏폼 앱 연동 워크플로우(A→B→C 다단계)에 활용해 본 경험이 있습니다.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Make / n8n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학습 단계로 명시합니다. 우대사항이 "Zapier·Make·n8n 등" 도구 "활용 경험"인 만큼, 실무 가능 도구 1개를 단단히 운영하면서 둘째 도구를 단계적으로 흡수하는 것이 정직한 출발선이라고 판단했습니다.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· NEXT STEPS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200" kern="0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한계와 입사 후 30일 검증 계획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문서는 가설입니다. 실제 데이터를 만나는 첫 30일을 어떻게 쓸 것인지 미리 정리했습니다.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11535" cy="777240"/>
          </a:xfrm>
          <a:prstGeom prst="rect">
            <a:avLst/>
          </a:prstGeom>
          <a:solidFill>
            <a:srgbClr val="F5EFFB"/>
          </a:solidFill>
          <a:ln w="12700">
            <a:solidFill>
              <a:srgbClr val="F5EF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진단의 가치는 "정확한 답"이 아닙니다. 입사 첫 주에 무엇을 측정할지 준비되어 있는 것입니다.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2590724" cy="23774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2590724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83280"/>
            <a:ext cx="2224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데이터·맥락 수집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22249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견적·주문 30건 샘플링 → 응답 시점·납기·정합성 분포 확인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영업팀·팀 리드 1:1 인터뷰 — 가설 3개와 실제 우선순위 대조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도구 스택(Notion·Slack·Sheets) 매핑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3684" y="3200400"/>
            <a:ext cx="2590724" cy="23774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3684" y="3200400"/>
            <a:ext cx="2590724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6564" y="3383280"/>
            <a:ext cx="2224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96564" y="365760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가설↔실데이터 대조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6564" y="4114800"/>
            <a:ext cx="22249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문서의 3개 가설 중 어느 것이 가장 큰 누수인가 확인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버려야 할 가설은 명시적으로 폐기 (sunk cost 회피)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SLA 임계값 결정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7288" y="3200400"/>
            <a:ext cx="2590724" cy="23774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7288" y="3200400"/>
            <a:ext cx="2590724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0168" y="3383280"/>
            <a:ext cx="2224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70168" y="365760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우선순위·SOP v0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0168" y="4114800"/>
            <a:ext cx="22249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누수 1건 우선순위 확정 — 팀 리드 합의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영역 SOP v0 작성 → 영업팀 리뷰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Zapier 자동화 1건 파일럿 후보 선정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60891" y="3200400"/>
            <a:ext cx="2590724" cy="2377440"/>
          </a:xfrm>
          <a:prstGeom prst="rect">
            <a:avLst/>
          </a:prstGeom>
          <a:solidFill>
            <a:srgbClr val="FAFAFA"/>
          </a:solidFill>
          <a:ln w="6350">
            <a:solidFill>
              <a:srgbClr val="EFE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0891" y="3200400"/>
            <a:ext cx="2590724" cy="45720"/>
          </a:xfrm>
          <a:prstGeom prst="rect">
            <a:avLst/>
          </a:prstGeom>
          <a:solidFill>
            <a:srgbClr val="450081"/>
          </a:solidFill>
          <a:ln w="12700">
            <a:solidFill>
              <a:srgbClr val="4500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3771" y="3383280"/>
            <a:ext cx="2224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4500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3771" y="365760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파일럿·측정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3771" y="4114800"/>
            <a:ext cx="22249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SOP v0 1개 영역 적용 + 측정 지표 정의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Zapier 워크플로우 1건 운영 시작</a:t>
            </a:r>
            <a:endParaRPr lang="en-US" sz="95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5C61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월말 회고 — 측정 결과로 SOP 보정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 · 윤상훈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500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프로보티브 채용팀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548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문서는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진단입니다.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입사 첫 주에 무엇을 측정할 것인지는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준비되어 있습니다 — 실제 데이터를 만난 다음, SOP는 갱신됩니다.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0911535" cy="0"/>
          </a:xfrm>
          <a:prstGeom prst="line">
            <a:avLst/>
          </a:prstGeom>
          <a:noFill/>
          <a:ln w="6350">
            <a:solidFill>
              <a:srgbClr val="6A2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577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Sanghoon Yoon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 Growth Team / 영업 운영 매니저 지원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hoon7624g@gmail.com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62495" y="5577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B49A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</a:t>
            </a:r>
            <a:endParaRPr lang="en-US" sz="850" dirty="0"/>
          </a:p>
          <a:p>
            <a:pPr algn="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패커티브 영업 운영 흐름 진단</a:t>
            </a:r>
            <a:endParaRPr lang="en-US" sz="8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9C7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v0.1 ·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패커티브 영업 운영 흐름 진단</dc:title>
  <dc:subject>PptxGenJS Presentation</dc:subject>
  <dc:creator>윤상훈</dc:creator>
  <cp:lastModifiedBy>윤상훈</cp:lastModifiedBy>
  <cp:revision>1</cp:revision>
  <dcterms:created xsi:type="dcterms:W3CDTF">2026-04-27T05:58:03Z</dcterms:created>
  <dcterms:modified xsi:type="dcterms:W3CDTF">2026-04-27T05:58:03Z</dcterms:modified>
</cp:coreProperties>
</file>